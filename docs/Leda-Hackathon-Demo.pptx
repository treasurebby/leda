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on the deployed app. One line: Leda turns the WhatsApp messages Nigerian distributors already receive into orders, verification and a ledger.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distributor is not the problem. The channel is. Retailers will never stop sending voice notes; the tooling has to meet them there.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verbs. Everything in the demo maps to one of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the Attention Required panel: the 54% flag on LE-1041 is the story we follow for the rest of the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design choice: the model is rewarded for honesty. A flag with two options beats a confident wrong guess when the distributor's money is on the line. Every provider sits behind an interface with a fake, so the pipeline is fully testable offline.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beat: click the amber badge, compare to the slip, resolve the 55 bags option, press Send.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Money invariants: NUMERIC(18,2) never floats; payments unique per provider reference; ledger append-only; unmatch posts a reversing adjustment.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Numbers from the repo at demo time. The fakes matter: the whole product runs offline, which is how we tested it end to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Claude call: beta.messages.parse with a Pydantic DecodedOrder schema, adaptive thinking, cached system prompt and catalog, server-side refusal fallbacks.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the network is unhappy, every step also works against the local fakes. Have the seeded database ready as a fallback.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ask depends on the hackathon: access to a WhatsApp Business verification partner and one distributor willing to pilot are worth more than anything else.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jpg"/><Relationship Id="rId5" Type="http://schemas.openxmlformats.org/officeDocument/2006/relationships/image" Target="../media/image-2-5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4E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463040"/>
            <a:ext cx="4572000" cy="4572000"/>
          </a:xfrm>
          <a:prstGeom prst="ellipse">
            <a:avLst/>
          </a:prstGeom>
          <a:solidFill>
            <a:srgbClr val="065F46"/>
          </a:solidFill>
          <a:ln w="12700">
            <a:solidFill>
              <a:srgbClr val="065F46"/>
            </a:solidFill>
            <a:prstDash val="solid"/>
          </a:ln>
        </p:spPr>
      </p:sp>
      <p:pic>
        <p:nvPicPr>
          <p:cNvPr id="3" name="Image 0" descr="warroom-order-slip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74920" y="960120"/>
            <a:ext cx="3566160" cy="2651760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pic>
      <p:sp>
        <p:nvSpPr>
          <p:cNvPr id="4" name="Shape 1"/>
          <p:cNvSpPr/>
          <p:nvPr/>
        </p:nvSpPr>
        <p:spPr>
          <a:xfrm>
            <a:off x="548640" y="548640"/>
            <a:ext cx="502920" cy="502920"/>
          </a:xfrm>
          <a:prstGeom prst="roundRect">
            <a:avLst>
              <a:gd name="adj" fmla="val 25455"/>
            </a:avLst>
          </a:prstGeom>
          <a:solidFill>
            <a:srgbClr val="FDFBF7"/>
          </a:solidFill>
          <a:ln w="12700">
            <a:solidFill>
              <a:srgbClr val="FDFBF7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" y="649224"/>
            <a:ext cx="301752" cy="301752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188720" y="530352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DFB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Leda</a:t>
            </a:r>
            <a:endParaRPr lang="en-US" sz="28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1600200"/>
            <a:ext cx="4480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600" b="1" dirty="0">
                <a:solidFill>
                  <a:srgbClr val="FDFB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the WhatsApp chaos.</a:t>
            </a:r>
            <a:endParaRPr lang="en-US" sz="3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600" b="1" dirty="0">
                <a:solidFill>
                  <a:srgbClr val="FDFB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your ledger.</a:t>
            </a:r>
            <a:endParaRPr lang="en-US" sz="36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315468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FE3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notes, blurry photos and market slang in.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FE3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orders and a balanced ledger out.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4206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2C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HACKATHON DEMO  ·  BUILT FOR NIGERIA'S WHOLESALE DISTRIBUTORS</a:t>
            </a:r>
            <a:endParaRPr lang="en-US" sz="95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4773168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DBF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leda-seven.vercel.app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0116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Nigeria's wholesale trade runs on WhatsApp.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252728"/>
            <a:ext cx="457200" cy="457200"/>
          </a:xfrm>
          <a:prstGeom prst="ellipse">
            <a:avLst/>
          </a:prstGeom>
          <a:solidFill>
            <a:srgbClr val="E8F3EE"/>
          </a:solidFill>
          <a:ln w="12700">
            <a:solidFill>
              <a:srgbClr val="E8F3EE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362456"/>
            <a:ext cx="237744" cy="2377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188720" y="123444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order is a voice note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188720" y="1536192"/>
            <a:ext cx="3931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"Send me like fifty, make e remain small." Pidgin, slang and nicknames for products — typed into a notebook by hand.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548640" y="2368296"/>
            <a:ext cx="457200" cy="457200"/>
          </a:xfrm>
          <a:prstGeom prst="ellipse">
            <a:avLst/>
          </a:prstGeom>
          <a:solidFill>
            <a:srgbClr val="E8F3EE"/>
          </a:solidFill>
          <a:ln w="12700">
            <a:solidFill>
              <a:srgbClr val="E8F3EE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478024"/>
            <a:ext cx="237744" cy="23774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188720" y="2350008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proof is a blurry photo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1188720" y="2651760"/>
            <a:ext cx="3931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Handwritten order slips and stacked bags. Two rice brands look the same at 6am.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548640" y="3483864"/>
            <a:ext cx="457200" cy="457200"/>
          </a:xfrm>
          <a:prstGeom prst="ellipse">
            <a:avLst/>
          </a:prstGeom>
          <a:solidFill>
            <a:srgbClr val="E8F3EE"/>
          </a:solidFill>
          <a:ln w="12700">
            <a:solidFill>
              <a:srgbClr val="E8F3EE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593592"/>
            <a:ext cx="237744" cy="23774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188720" y="3465576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payment is a screenshot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1188720" y="3767328"/>
            <a:ext cx="3931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Transfers arrive with unclear references. Matching them to invoices takes the whole evening.</a:t>
            </a:r>
            <a:endParaRPr lang="en-US" sz="1150" dirty="0"/>
          </a:p>
        </p:txBody>
      </p:sp>
      <p:pic>
        <p:nvPicPr>
          <p:cNvPr id="16" name="Image 3" descr="chat-rice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0" y="1143000"/>
            <a:ext cx="2926080" cy="1600200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pic>
      <p:pic>
        <p:nvPicPr>
          <p:cNvPr id="17" name="Image 4" descr="chat-oil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9280" y="2880360"/>
            <a:ext cx="2926080" cy="1600200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pic>
      <p:sp>
        <p:nvSpPr>
          <p:cNvPr id="18" name="Text 11"/>
          <p:cNvSpPr txBox="1"/>
          <p:nvPr/>
        </p:nvSpPr>
        <p:spPr>
          <a:xfrm>
            <a:off x="548640" y="4773168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leda-seven.vercel.app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0116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 Sabi: decode, verify, reconcile.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2514600" cy="3108960"/>
          </a:xfrm>
          <a:prstGeom prst="roundRect">
            <a:avLst>
              <a:gd name="adj" fmla="val 4364"/>
            </a:avLst>
          </a:prstGeom>
          <a:solidFill>
            <a:srgbClr val="FDFBF7"/>
          </a:solidFill>
          <a:ln w="9525">
            <a:solidFill>
              <a:srgbClr val="EFE9DD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508760"/>
            <a:ext cx="548640" cy="548640"/>
          </a:xfrm>
          <a:prstGeom prst="ellipse">
            <a:avLst/>
          </a:prstGeom>
          <a:solidFill>
            <a:srgbClr val="065F46"/>
          </a:solidFill>
          <a:ln w="12700">
            <a:solidFill>
              <a:srgbClr val="065F46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4634" y="1640434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2960" y="22402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6517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5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note, photo or text becomes order lines against the distributor's own catalog — each line with a confidence score.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3273552" y="1234440"/>
            <a:ext cx="2514600" cy="3108960"/>
          </a:xfrm>
          <a:prstGeom prst="roundRect">
            <a:avLst>
              <a:gd name="adj" fmla="val 4364"/>
            </a:avLst>
          </a:prstGeom>
          <a:solidFill>
            <a:srgbClr val="FDFBF7"/>
          </a:solidFill>
          <a:ln w="9525">
            <a:solidFill>
              <a:srgbClr val="EFE9DD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547872" y="1508760"/>
            <a:ext cx="548640" cy="548640"/>
          </a:xfrm>
          <a:prstGeom prst="ellipse">
            <a:avLst/>
          </a:prstGeom>
          <a:solidFill>
            <a:srgbClr val="065F46"/>
          </a:solidFill>
          <a:ln w="12700">
            <a:solidFill>
              <a:srgbClr val="065F46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9546" y="1640434"/>
            <a:ext cx="285293" cy="28529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547872" y="22402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3547872" y="26517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5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Anything uncertain becomes a question with two concrete options, sent straight back to the retailer. They reply "2"; Sabi finalises.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5998464" y="1234440"/>
            <a:ext cx="2514600" cy="3108960"/>
          </a:xfrm>
          <a:prstGeom prst="roundRect">
            <a:avLst>
              <a:gd name="adj" fmla="val 4364"/>
            </a:avLst>
          </a:prstGeom>
          <a:solidFill>
            <a:srgbClr val="FDFBF7"/>
          </a:solidFill>
          <a:ln w="9525">
            <a:solidFill>
              <a:srgbClr val="EFE9DD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272784" y="1508760"/>
            <a:ext cx="548640" cy="548640"/>
          </a:xfrm>
          <a:prstGeom prst="ellipse">
            <a:avLst/>
          </a:prstGeom>
          <a:solidFill>
            <a:srgbClr val="065F46"/>
          </a:solidFill>
          <a:ln w="12700">
            <a:solidFill>
              <a:srgbClr val="065F46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4458" y="1640434"/>
            <a:ext cx="285293" cy="285293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272784" y="22402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Reconcile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6272784" y="26517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5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reply carries the invoice and the retailer's own virtual account. Transfers auto-match and post to an append-only ledger.</a:t>
            </a:r>
            <a:endParaRPr lang="en-US" sz="1150" dirty="0"/>
          </a:p>
        </p:txBody>
      </p:sp>
      <p:sp>
        <p:nvSpPr>
          <p:cNvPr id="19" name="Text 14"/>
          <p:cNvSpPr txBox="1"/>
          <p:nvPr/>
        </p:nvSpPr>
        <p:spPr>
          <a:xfrm>
            <a:off x="548640" y="4773168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leda-seven.vercel.app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0116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COMMAND CENTER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orders, what needs a human, what's owed.</a:t>
            </a:r>
            <a:endParaRPr lang="en-US" sz="2400" dirty="0"/>
          </a:p>
        </p:txBody>
      </p:sp>
      <p:pic>
        <p:nvPicPr>
          <p:cNvPr id="4" name="Image 0" descr="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5852160" cy="3657600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pic>
      <p:sp>
        <p:nvSpPr>
          <p:cNvPr id="5" name="Shape 2"/>
          <p:cNvSpPr/>
          <p:nvPr/>
        </p:nvSpPr>
        <p:spPr>
          <a:xfrm>
            <a:off x="6629400" y="1234440"/>
            <a:ext cx="196596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3E8E4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766560" y="134416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 orders today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6766560" y="1673352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5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Voice, photo and text, one queue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6629400" y="2377440"/>
            <a:ext cx="196596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3E8E4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6766560" y="248716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pending verifications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6766560" y="2816352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5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AI flags · 3 transfers · 2 duplicates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629400" y="3520440"/>
            <a:ext cx="196596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3E8E4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6766560" y="363016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₦12.48M receivables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6766560" y="3959352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5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from the ledger, not a spreadsheet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4773168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leda-seven.vercel.app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0116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SABI WORKS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 42-second voice note to a confident order.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178308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9525">
            <a:solidFill>
              <a:srgbClr val="E3E8E4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353312"/>
            <a:ext cx="457200" cy="457200"/>
          </a:xfrm>
          <a:prstGeom prst="ellipse">
            <a:avLst/>
          </a:prstGeom>
          <a:solidFill>
            <a:srgbClr val="E8F3EE"/>
          </a:solidFill>
          <a:ln w="12700">
            <a:solidFill>
              <a:srgbClr val="E8F3EE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" y="1463040"/>
            <a:ext cx="237744" cy="23774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80160" y="1389888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1938528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API webhook.</a:t>
            </a:r>
            <a:endParaRPr lang="en-US" sz="9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 stored untouched.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2350008" y="1856232"/>
            <a:ext cx="237744" cy="256032"/>
          </a:xfrm>
          <a:prstGeom prst="rightArrow">
            <a:avLst/>
          </a:prstGeom>
          <a:solidFill>
            <a:srgbClr val="B7C4BD"/>
          </a:solidFill>
          <a:ln w="12700">
            <a:solidFill>
              <a:srgbClr val="B7C4B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606040" y="1188720"/>
            <a:ext cx="178308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9525">
            <a:solidFill>
              <a:srgbClr val="E3E8E4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2788920" y="1353312"/>
            <a:ext cx="457200" cy="457200"/>
          </a:xfrm>
          <a:prstGeom prst="ellipse">
            <a:avLst/>
          </a:prstGeom>
          <a:solidFill>
            <a:srgbClr val="E8F3EE"/>
          </a:solidFill>
          <a:ln w="12700">
            <a:solidFill>
              <a:srgbClr val="E8F3EE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8648" y="1463040"/>
            <a:ext cx="237744" cy="23774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337560" y="1389888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Whisper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2788920" y="1938528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Transcript with a Pidgin</a:t>
            </a:r>
            <a:endParaRPr lang="en-US" sz="9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hint + product names.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4407408" y="1856232"/>
            <a:ext cx="237744" cy="256032"/>
          </a:xfrm>
          <a:prstGeom prst="rightArrow">
            <a:avLst/>
          </a:prstGeom>
          <a:solidFill>
            <a:srgbClr val="B7C4BD"/>
          </a:solidFill>
          <a:ln w="12700">
            <a:solidFill>
              <a:srgbClr val="B7C4BD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4663440" y="1188720"/>
            <a:ext cx="178308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9525">
            <a:solidFill>
              <a:srgbClr val="E3E8E4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4846320" y="1353312"/>
            <a:ext cx="457200" cy="457200"/>
          </a:xfrm>
          <a:prstGeom prst="ellipse">
            <a:avLst/>
          </a:prstGeom>
          <a:solidFill>
            <a:srgbClr val="E8F3EE"/>
          </a:solidFill>
          <a:ln w="12700">
            <a:solidFill>
              <a:srgbClr val="E8F3EE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6048" y="1463040"/>
            <a:ext cx="237744" cy="237744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5394960" y="1389888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4846320" y="1938528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output against the</a:t>
            </a:r>
            <a:endParaRPr lang="en-US" sz="9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catalog, slang aliases, history.</a:t>
            </a:r>
            <a:endParaRPr lang="en-US" sz="950" dirty="0"/>
          </a:p>
        </p:txBody>
      </p:sp>
      <p:sp>
        <p:nvSpPr>
          <p:cNvPr id="21" name="Shape 16"/>
          <p:cNvSpPr/>
          <p:nvPr/>
        </p:nvSpPr>
        <p:spPr>
          <a:xfrm>
            <a:off x="6464808" y="1856232"/>
            <a:ext cx="237744" cy="256032"/>
          </a:xfrm>
          <a:prstGeom prst="rightArrow">
            <a:avLst/>
          </a:prstGeom>
          <a:solidFill>
            <a:srgbClr val="B7C4BD"/>
          </a:solidFill>
          <a:ln w="12700">
            <a:solidFill>
              <a:srgbClr val="B7C4BD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6720840" y="1188720"/>
            <a:ext cx="178308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9525">
            <a:solidFill>
              <a:srgbClr val="E3E8E4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6903720" y="1353312"/>
            <a:ext cx="457200" cy="457200"/>
          </a:xfrm>
          <a:prstGeom prst="ellipse">
            <a:avLst/>
          </a:prstGeom>
          <a:solidFill>
            <a:srgbClr val="E8F3EE"/>
          </a:solidFill>
          <a:ln w="12700">
            <a:solidFill>
              <a:srgbClr val="E8F3EE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13448" y="1463040"/>
            <a:ext cx="237744" cy="237744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7452360" y="1389888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Reply</a:t>
            </a:r>
            <a:endParaRPr lang="en-US" sz="1400" dirty="0"/>
          </a:p>
        </p:txBody>
      </p:sp>
      <p:sp>
        <p:nvSpPr>
          <p:cNvPr id="26" name="Text 20"/>
          <p:cNvSpPr txBox="1"/>
          <p:nvPr/>
        </p:nvSpPr>
        <p:spPr>
          <a:xfrm>
            <a:off x="6903720" y="1938528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Prices, invoice and account</a:t>
            </a:r>
            <a:endParaRPr lang="en-US" sz="9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 back on WhatsApp</a:t>
            </a:r>
            <a:endParaRPr lang="en-US" sz="9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seconds.</a:t>
            </a:r>
            <a:endParaRPr lang="en-US" sz="950" dirty="0"/>
          </a:p>
        </p:txBody>
      </p:sp>
      <p:sp>
        <p:nvSpPr>
          <p:cNvPr id="27" name="Shape 21"/>
          <p:cNvSpPr/>
          <p:nvPr/>
        </p:nvSpPr>
        <p:spPr>
          <a:xfrm>
            <a:off x="548640" y="3017520"/>
            <a:ext cx="8046720" cy="1645920"/>
          </a:xfrm>
          <a:prstGeom prst="roundRect">
            <a:avLst>
              <a:gd name="adj" fmla="val 6667"/>
            </a:avLst>
          </a:prstGeom>
          <a:solidFill>
            <a:srgbClr val="FDF1E0"/>
          </a:solidFill>
          <a:ln w="9525">
            <a:solidFill>
              <a:srgbClr val="F3DDB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777240" y="3200400"/>
            <a:ext cx="411480" cy="41148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995" y="3299155"/>
            <a:ext cx="213970" cy="213970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325880" y="32004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Flag: Quantity unclear (54% confidence)</a:t>
            </a:r>
            <a:endParaRPr lang="en-US" sz="1300" dirty="0"/>
          </a:p>
        </p:txBody>
      </p:sp>
      <p:sp>
        <p:nvSpPr>
          <p:cNvPr id="31" name="Text 24"/>
          <p:cNvSpPr txBox="1"/>
          <p:nvPr/>
        </p:nvSpPr>
        <p:spPr>
          <a:xfrm>
            <a:off x="1325880" y="3547872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“Send me like fifty, make e remain small.”</a:t>
            </a:r>
            <a:endParaRPr lang="en-US" sz="1300" dirty="0"/>
          </a:p>
        </p:txBody>
      </p:sp>
      <p:sp>
        <p:nvSpPr>
          <p:cNvPr id="32" name="Text 25"/>
          <p:cNvSpPr txBox="1"/>
          <p:nvPr/>
        </p:nvSpPr>
        <p:spPr>
          <a:xfrm>
            <a:off x="1325880" y="3886200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Sabi replies: “1) 50 bags  2) 55 bags — reply with the number.” The retailer answers ‘2’ and the invoice with their account number follows immediately. No guessing with the distributor's money.</a:t>
            </a:r>
            <a:endParaRPr lang="en-US" sz="1050" dirty="0"/>
          </a:p>
        </p:txBody>
      </p:sp>
      <p:sp>
        <p:nvSpPr>
          <p:cNvPr id="33" name="Text 26"/>
          <p:cNvSpPr txBox="1"/>
          <p:nvPr/>
        </p:nvSpPr>
        <p:spPr>
          <a:xfrm>
            <a:off x="6309360" y="329184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₦392,500</a:t>
            </a:r>
            <a:endParaRPr lang="en-US" sz="3200" dirty="0"/>
          </a:p>
        </p:txBody>
      </p:sp>
      <p:sp>
        <p:nvSpPr>
          <p:cNvPr id="34" name="Text 27"/>
          <p:cNvSpPr txBox="1"/>
          <p:nvPr/>
        </p:nvSpPr>
        <p:spPr>
          <a:xfrm>
            <a:off x="6309360" y="39319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difference between the two readings</a:t>
            </a:r>
            <a:endParaRPr lang="en-US" sz="1000" dirty="0"/>
          </a:p>
        </p:txBody>
      </p:sp>
      <p:sp>
        <p:nvSpPr>
          <p:cNvPr id="35" name="Text 28"/>
          <p:cNvSpPr txBox="1"/>
          <p:nvPr/>
        </p:nvSpPr>
        <p:spPr>
          <a:xfrm>
            <a:off x="548640" y="4773168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leda-seven.vercel.app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0116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WAR ROOM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on the left, the order on the right.</a:t>
            </a:r>
            <a:endParaRPr lang="en-US" sz="2400" dirty="0"/>
          </a:p>
        </p:txBody>
      </p:sp>
      <p:pic>
        <p:nvPicPr>
          <p:cNvPr id="4" name="Image 0" descr="warroo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5394960" cy="3374136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pic>
      <p:sp>
        <p:nvSpPr>
          <p:cNvPr id="5" name="Shape 2"/>
          <p:cNvSpPr/>
          <p:nvPr/>
        </p:nvSpPr>
        <p:spPr>
          <a:xfrm>
            <a:off x="6172200" y="1143000"/>
            <a:ext cx="384048" cy="384048"/>
          </a:xfrm>
          <a:prstGeom prst="ellipse">
            <a:avLst/>
          </a:prstGeom>
          <a:solidFill>
            <a:srgbClr val="E8F3EE"/>
          </a:solidFill>
          <a:ln w="12700">
            <a:solidFill>
              <a:srgbClr val="E8F3EE"/>
            </a:solidFill>
            <a:prstDash val="solid"/>
          </a:ln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4372" y="1235172"/>
            <a:ext cx="199705" cy="199705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675120" y="1124712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signals stay original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6675120" y="1417320"/>
            <a:ext cx="1965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note, slip photo and raw transcript are stored once and never rewritten by the model.</a:t>
            </a:r>
            <a:endParaRPr lang="en-US" sz="950" dirty="0"/>
          </a:p>
        </p:txBody>
      </p:sp>
      <p:sp>
        <p:nvSpPr>
          <p:cNvPr id="9" name="Shape 5"/>
          <p:cNvSpPr/>
          <p:nvPr/>
        </p:nvSpPr>
        <p:spPr>
          <a:xfrm>
            <a:off x="6172200" y="2286000"/>
            <a:ext cx="384048" cy="384048"/>
          </a:xfrm>
          <a:prstGeom prst="ellipse">
            <a:avLst/>
          </a:prstGeom>
          <a:solidFill>
            <a:srgbClr val="E8F3EE"/>
          </a:solidFill>
          <a:ln w="12700">
            <a:solidFill>
              <a:srgbClr val="E8F3EE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4372" y="2378172"/>
            <a:ext cx="199705" cy="199705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6675120" y="2267712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Sure / Check badges</a:t>
            </a:r>
            <a:endParaRPr lang="en-US" sz="1200" dirty="0"/>
          </a:p>
        </p:txBody>
      </p:sp>
      <p:sp>
        <p:nvSpPr>
          <p:cNvPr id="12" name="Text 7"/>
          <p:cNvSpPr txBox="1"/>
          <p:nvPr/>
        </p:nvSpPr>
        <p:spPr>
          <a:xfrm>
            <a:off x="6675120" y="2560320"/>
            <a:ext cx="1965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lines matched clearly. Amber lines wait for a human to compare them to the evidence.</a:t>
            </a:r>
            <a:endParaRPr lang="en-US" sz="950" dirty="0"/>
          </a:p>
        </p:txBody>
      </p:sp>
      <p:sp>
        <p:nvSpPr>
          <p:cNvPr id="13" name="Shape 8"/>
          <p:cNvSpPr/>
          <p:nvPr/>
        </p:nvSpPr>
        <p:spPr>
          <a:xfrm>
            <a:off x="6172200" y="3429000"/>
            <a:ext cx="384048" cy="384048"/>
          </a:xfrm>
          <a:prstGeom prst="ellipse">
            <a:avLst/>
          </a:prstGeom>
          <a:solidFill>
            <a:srgbClr val="E8F3EE"/>
          </a:solidFill>
          <a:ln w="12700">
            <a:solidFill>
              <a:srgbClr val="E8F3EE"/>
            </a:solidFill>
            <a:prstDash val="solid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4372" y="3521172"/>
            <a:ext cx="199705" cy="199705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6675120" y="3410712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confirmation</a:t>
            </a:r>
            <a:endParaRPr lang="en-US" sz="1200" dirty="0"/>
          </a:p>
        </p:txBody>
      </p:sp>
      <p:sp>
        <p:nvSpPr>
          <p:cNvPr id="16" name="Text 10"/>
          <p:cNvSpPr txBox="1"/>
          <p:nvPr/>
        </p:nvSpPr>
        <p:spPr>
          <a:xfrm>
            <a:off x="6675120" y="3703320"/>
            <a:ext cx="1965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Resolving the flags unlocks Send. The retailer gets the WhatsApp confirmation; the invoice posts to the ledger.</a:t>
            </a:r>
            <a:endParaRPr lang="en-US" sz="950" dirty="0"/>
          </a:p>
        </p:txBody>
      </p:sp>
      <p:sp>
        <p:nvSpPr>
          <p:cNvPr id="17" name="Text 11"/>
          <p:cNvSpPr txBox="1"/>
          <p:nvPr/>
        </p:nvSpPr>
        <p:spPr>
          <a:xfrm>
            <a:off x="548640" y="4773168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leda-seven.vercel.app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0116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MONEY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transfer finds its invoice.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1783080" cy="1874520"/>
          </a:xfrm>
          <a:prstGeom prst="roundRect">
            <a:avLst>
              <a:gd name="adj" fmla="val 6154"/>
            </a:avLst>
          </a:prstGeom>
          <a:solidFill>
            <a:srgbClr val="E8F3EE"/>
          </a:solidFill>
          <a:ln w="9525">
            <a:solidFill>
              <a:srgbClr val="D5E7DE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353312"/>
            <a:ext cx="457200" cy="457200"/>
          </a:xfrm>
          <a:prstGeom prst="ellipse">
            <a:avLst/>
          </a:prstGeom>
          <a:solidFill>
            <a:srgbClr val="065F46"/>
          </a:solidFill>
          <a:ln w="12700">
            <a:solidFill>
              <a:srgbClr val="065F46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" y="1463040"/>
            <a:ext cx="237744" cy="23774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31520" y="1901952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account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221992"/>
            <a:ext cx="1508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Paystack dedicated account per retailer. The account number is the reference.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2350008" y="1993392"/>
            <a:ext cx="237744" cy="256032"/>
          </a:xfrm>
          <a:prstGeom prst="rightArrow">
            <a:avLst/>
          </a:prstGeom>
          <a:solidFill>
            <a:srgbClr val="9DBFB1"/>
          </a:solidFill>
          <a:ln w="12700">
            <a:solidFill>
              <a:srgbClr val="9DBFB1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606040" y="1188720"/>
            <a:ext cx="1783080" cy="1874520"/>
          </a:xfrm>
          <a:prstGeom prst="roundRect">
            <a:avLst>
              <a:gd name="adj" fmla="val 6154"/>
            </a:avLst>
          </a:prstGeom>
          <a:solidFill>
            <a:srgbClr val="E8F3EE"/>
          </a:solidFill>
          <a:ln w="9525">
            <a:solidFill>
              <a:srgbClr val="D5E7DE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2788920" y="1353312"/>
            <a:ext cx="457200" cy="457200"/>
          </a:xfrm>
          <a:prstGeom prst="ellipse">
            <a:avLst/>
          </a:prstGeom>
          <a:solidFill>
            <a:srgbClr val="065F46"/>
          </a:solidFill>
          <a:ln w="12700">
            <a:solidFill>
              <a:srgbClr val="065F46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8648" y="1463040"/>
            <a:ext cx="237744" cy="23774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2788920" y="1901952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Webhook</a:t>
            </a:r>
            <a:endParaRPr lang="en-US" sz="1350" dirty="0"/>
          </a:p>
        </p:txBody>
      </p:sp>
      <p:sp>
        <p:nvSpPr>
          <p:cNvPr id="14" name="Text 10"/>
          <p:cNvSpPr txBox="1"/>
          <p:nvPr/>
        </p:nvSpPr>
        <p:spPr>
          <a:xfrm>
            <a:off x="2788920" y="2221992"/>
            <a:ext cx="1508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HMAC-verified. Unique on reference, so a replayed event changes nothing.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4407408" y="1993392"/>
            <a:ext cx="237744" cy="256032"/>
          </a:xfrm>
          <a:prstGeom prst="rightArrow">
            <a:avLst/>
          </a:prstGeom>
          <a:solidFill>
            <a:srgbClr val="9DBFB1"/>
          </a:solidFill>
          <a:ln w="12700">
            <a:solidFill>
              <a:srgbClr val="9DBFB1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4663440" y="1188720"/>
            <a:ext cx="1783080" cy="1874520"/>
          </a:xfrm>
          <a:prstGeom prst="roundRect">
            <a:avLst>
              <a:gd name="adj" fmla="val 6154"/>
            </a:avLst>
          </a:prstGeom>
          <a:solidFill>
            <a:srgbClr val="E8F3EE"/>
          </a:solidFill>
          <a:ln w="9525">
            <a:solidFill>
              <a:srgbClr val="D5E7DE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4846320" y="1353312"/>
            <a:ext cx="457200" cy="457200"/>
          </a:xfrm>
          <a:prstGeom prst="ellipse">
            <a:avLst/>
          </a:prstGeom>
          <a:solidFill>
            <a:srgbClr val="065F46"/>
          </a:solidFill>
          <a:ln w="12700">
            <a:solidFill>
              <a:srgbClr val="065F46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6048" y="1463040"/>
            <a:ext cx="237744" cy="237744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4846320" y="1901952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Auto-match</a:t>
            </a:r>
            <a:endParaRPr lang="en-US" sz="1350" dirty="0"/>
          </a:p>
        </p:txBody>
      </p:sp>
      <p:sp>
        <p:nvSpPr>
          <p:cNvPr id="20" name="Text 15"/>
          <p:cNvSpPr txBox="1"/>
          <p:nvPr/>
        </p:nvSpPr>
        <p:spPr>
          <a:xfrm>
            <a:off x="4846320" y="2221992"/>
            <a:ext cx="1508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Amount equals one pending order, or the narration names it. Otherwise: review queue.</a:t>
            </a:r>
            <a:endParaRPr lang="en-US" sz="950" dirty="0"/>
          </a:p>
        </p:txBody>
      </p:sp>
      <p:sp>
        <p:nvSpPr>
          <p:cNvPr id="21" name="Shape 16"/>
          <p:cNvSpPr/>
          <p:nvPr/>
        </p:nvSpPr>
        <p:spPr>
          <a:xfrm>
            <a:off x="6464808" y="1993392"/>
            <a:ext cx="237744" cy="256032"/>
          </a:xfrm>
          <a:prstGeom prst="rightArrow">
            <a:avLst/>
          </a:prstGeom>
          <a:solidFill>
            <a:srgbClr val="9DBFB1"/>
          </a:solidFill>
          <a:ln w="12700">
            <a:solidFill>
              <a:srgbClr val="9DBFB1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6720840" y="1188720"/>
            <a:ext cx="1783080" cy="1874520"/>
          </a:xfrm>
          <a:prstGeom prst="roundRect">
            <a:avLst>
              <a:gd name="adj" fmla="val 6154"/>
            </a:avLst>
          </a:prstGeom>
          <a:solidFill>
            <a:srgbClr val="E8F3EE"/>
          </a:solidFill>
          <a:ln w="9525">
            <a:solidFill>
              <a:srgbClr val="D5E7DE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6903720" y="1353312"/>
            <a:ext cx="457200" cy="457200"/>
          </a:xfrm>
          <a:prstGeom prst="ellipse">
            <a:avLst/>
          </a:prstGeom>
          <a:solidFill>
            <a:srgbClr val="065F46"/>
          </a:solidFill>
          <a:ln w="12700">
            <a:solidFill>
              <a:srgbClr val="065F46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13448" y="1463040"/>
            <a:ext cx="237744" cy="237744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6903720" y="1901952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</a:t>
            </a:r>
            <a:endParaRPr lang="en-US" sz="1350" dirty="0"/>
          </a:p>
        </p:txBody>
      </p:sp>
      <p:sp>
        <p:nvSpPr>
          <p:cNvPr id="26" name="Text 20"/>
          <p:cNvSpPr txBox="1"/>
          <p:nvPr/>
        </p:nvSpPr>
        <p:spPr>
          <a:xfrm>
            <a:off x="6903720" y="2221992"/>
            <a:ext cx="1508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 journal. Corrections are new rows. Balance is a sum, never a field.</a:t>
            </a:r>
            <a:endParaRPr lang="en-US" sz="9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37560"/>
          <a:ext cx="566928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914400"/>
                <a:gridCol w="1097280"/>
                <a:gridCol w="109728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5B6B6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>
                    <a:lnL w="6350" cap="flat" cmpd="sng" algn="ctr">
                      <a:solidFill>
                        <a:srgbClr val="E3E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B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5B6B6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Reference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>
                    <a:lnL w="6350" cap="flat" cmpd="sng" algn="ctr">
                      <a:solidFill>
                        <a:srgbClr val="E3E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B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5B6B6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Debit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>
                    <a:lnL w="6350" cap="flat" cmpd="sng" algn="ctr">
                      <a:solidFill>
                        <a:srgbClr val="E3E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B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5B6B6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Credit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>
                    <a:lnL w="6350" cap="flat" cmpd="sng" algn="ctr">
                      <a:solidFill>
                        <a:srgbClr val="E3E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B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5B6B6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Balance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>
                    <a:lnL w="6350" cap="flat" cmpd="sng" algn="ctr">
                      <a:solidFill>
                        <a:srgbClr val="E3E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BF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Invoice raised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>
                    <a:lnL w="6350" cap="flat" cmpd="sng" algn="ctr">
                      <a:solidFill>
                        <a:srgbClr val="E3E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LE-1043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>
                    <a:lnL w="6350" cap="flat" cmpd="sng" algn="ctr">
                      <a:solidFill>
                        <a:srgbClr val="E3E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5,682,500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>
                    <a:lnL w="6350" cap="flat" cmpd="sng" algn="ctr">
                      <a:solidFill>
                        <a:srgbClr val="E3E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>
                    <a:lnL w="6350" cap="flat" cmpd="sng" algn="ctr">
                      <a:solidFill>
                        <a:srgbClr val="E3E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8,772,500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>
                    <a:lnL w="6350" cap="flat" cmpd="sng" algn="ctr">
                      <a:solidFill>
                        <a:srgbClr val="E3E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Payment received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>
                    <a:lnL w="6350" cap="flat" cmpd="sng" algn="ctr">
                      <a:solidFill>
                        <a:srgbClr val="E3E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LE-1043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>
                    <a:lnL w="6350" cap="flat" cmpd="sng" algn="ctr">
                      <a:solidFill>
                        <a:srgbClr val="E3E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>
                    <a:lnL w="6350" cap="flat" cmpd="sng" algn="ctr">
                      <a:solidFill>
                        <a:srgbClr val="E3E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5,682,500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>
                    <a:lnL w="6350" cap="flat" cmpd="sng" algn="ctr">
                      <a:solidFill>
                        <a:srgbClr val="E3E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3,090,000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>
                    <a:lnL w="6350" cap="flat" cmpd="sng" algn="ctr">
                      <a:solidFill>
                        <a:srgbClr val="E3E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8" name="Text 21"/>
          <p:cNvSpPr txBox="1"/>
          <p:nvPr/>
        </p:nvSpPr>
        <p:spPr>
          <a:xfrm>
            <a:off x="6446520" y="333756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live demo run: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note → LE-1043 → confirmed → paid,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replay ignored, balance closes.</a:t>
            </a:r>
            <a:endParaRPr lang="en-US" sz="1000" dirty="0"/>
          </a:p>
        </p:txBody>
      </p:sp>
      <p:sp>
        <p:nvSpPr>
          <p:cNvPr id="29" name="Text 22"/>
          <p:cNvSpPr txBox="1"/>
          <p:nvPr/>
        </p:nvSpPr>
        <p:spPr>
          <a:xfrm>
            <a:off x="548640" y="4773168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leda-seven.vercel.app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64E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0116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2C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LIVE TODAY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DFB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mockup. A working system.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DFB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0574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FE3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endpoints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2606040" y="118872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DFB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5400" dirty="0"/>
          </a:p>
        </p:txBody>
      </p:sp>
      <p:sp>
        <p:nvSpPr>
          <p:cNvPr id="7" name="Text 5"/>
          <p:cNvSpPr txBox="1"/>
          <p:nvPr/>
        </p:nvSpPr>
        <p:spPr>
          <a:xfrm>
            <a:off x="2606040" y="20574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FE3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 tables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4663440" y="118872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DFB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5400" dirty="0"/>
          </a:p>
        </p:txBody>
      </p:sp>
      <p:sp>
        <p:nvSpPr>
          <p:cNvPr id="9" name="Text 7"/>
          <p:cNvSpPr txBox="1"/>
          <p:nvPr/>
        </p:nvSpPr>
        <p:spPr>
          <a:xfrm>
            <a:off x="4663440" y="20574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FE3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tests, SQLite + Postgres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6720840" y="118872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DFB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5400" dirty="0"/>
          </a:p>
        </p:txBody>
      </p:sp>
      <p:sp>
        <p:nvSpPr>
          <p:cNvPr id="11" name="Text 9"/>
          <p:cNvSpPr txBox="1"/>
          <p:nvPr/>
        </p:nvSpPr>
        <p:spPr>
          <a:xfrm>
            <a:off x="6720840" y="20574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FE3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providers, each with a fake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2697480"/>
            <a:ext cx="8046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200" dirty="0">
                <a:solidFill>
                  <a:srgbClr val="E4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creates real accounts, imports catalogs and retailers server-side, sends team invitations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200" dirty="0">
                <a:solidFill>
                  <a:srgbClr val="E4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intake → Whisper → Claude structured output → order, flags, notifications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200" dirty="0">
                <a:solidFill>
                  <a:srgbClr val="E4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 Room review, flag resolution, ask-the-retailer, confirmation with stock reservation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200" dirty="0">
                <a:solidFill>
                  <a:srgbClr val="E4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Paystack virtual accounts, idempotent webhook, auto-match / manual match, ledger with CSV export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200" dirty="0">
                <a:solidFill>
                  <a:srgbClr val="E4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on Vercel, API on FastAPI, database on Supabase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773168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DBF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leda-seven.vercel.app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0116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Boring where it should be, clever where it counts.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265176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9525">
            <a:solidFill>
              <a:srgbClr val="E3E8E4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371600"/>
            <a:ext cx="457200" cy="457200"/>
          </a:xfrm>
          <a:prstGeom prst="ellipse">
            <a:avLst/>
          </a:prstGeom>
          <a:solidFill>
            <a:srgbClr val="E8F3EE"/>
          </a:solidFill>
          <a:ln w="12700">
            <a:solidFill>
              <a:srgbClr val="E8F3EE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968" y="1481328"/>
            <a:ext cx="237744" cy="23774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25880" y="14173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19 · Vite · Tailwind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192024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5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Landing, onboarding,</a:t>
            </a: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5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 Center, War Room.</a:t>
            </a: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5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Typed client generated</a:t>
            </a: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5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OpenAPI.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3218688" y="1938528"/>
            <a:ext cx="256032" cy="256032"/>
          </a:xfrm>
          <a:prstGeom prst="rightArrow">
            <a:avLst/>
          </a:prstGeom>
          <a:solidFill>
            <a:srgbClr val="B7C4BD"/>
          </a:solidFill>
          <a:ln w="12700">
            <a:solidFill>
              <a:srgbClr val="B7C4B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246120" y="1188720"/>
            <a:ext cx="265176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9525">
            <a:solidFill>
              <a:srgbClr val="E3E8E4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474720" y="1371600"/>
            <a:ext cx="457200" cy="457200"/>
          </a:xfrm>
          <a:prstGeom prst="ellipse">
            <a:avLst/>
          </a:prstGeom>
          <a:solidFill>
            <a:srgbClr val="E8F3EE"/>
          </a:solidFill>
          <a:ln w="12700">
            <a:solidFill>
              <a:srgbClr val="E8F3EE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4448" y="1481328"/>
            <a:ext cx="237744" cy="23774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023360" y="14173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· SQLAlchemy 2.0</a:t>
            </a:r>
            <a:endParaRPr lang="en-US" sz="1250" dirty="0"/>
          </a:p>
        </p:txBody>
      </p:sp>
      <p:sp>
        <p:nvSpPr>
          <p:cNvPr id="14" name="Text 10"/>
          <p:cNvSpPr txBox="1"/>
          <p:nvPr/>
        </p:nvSpPr>
        <p:spPr>
          <a:xfrm>
            <a:off x="3474720" y="192024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5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Async, Pydantic v2, Alembic.</a:t>
            </a: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5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Role-gated, tenant-scoped.</a:t>
            </a: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5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as NUMERIC(18,2).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5916168" y="1938528"/>
            <a:ext cx="256032" cy="256032"/>
          </a:xfrm>
          <a:prstGeom prst="rightArrow">
            <a:avLst/>
          </a:prstGeom>
          <a:solidFill>
            <a:srgbClr val="B7C4BD"/>
          </a:solidFill>
          <a:ln w="12700">
            <a:solidFill>
              <a:srgbClr val="B7C4BD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5943600" y="1188720"/>
            <a:ext cx="265176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9525">
            <a:solidFill>
              <a:srgbClr val="E3E8E4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172200" y="1371600"/>
            <a:ext cx="457200" cy="457200"/>
          </a:xfrm>
          <a:prstGeom prst="ellipse">
            <a:avLst/>
          </a:prstGeom>
          <a:solidFill>
            <a:srgbClr val="E8F3EE"/>
          </a:solidFill>
          <a:ln w="12700">
            <a:solidFill>
              <a:srgbClr val="E8F3EE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1928" y="1481328"/>
            <a:ext cx="237744" cy="237744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6720840" y="14173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on Supabase</a:t>
            </a:r>
            <a:endParaRPr lang="en-US" sz="1250" dirty="0"/>
          </a:p>
        </p:txBody>
      </p:sp>
      <p:sp>
        <p:nvSpPr>
          <p:cNvPr id="20" name="Text 15"/>
          <p:cNvSpPr txBox="1"/>
          <p:nvPr/>
        </p:nvSpPr>
        <p:spPr>
          <a:xfrm>
            <a:off x="6172200" y="192024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5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tables. Append-only</a:t>
            </a: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5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ledger. Evidence never</a:t>
            </a: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5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mutated.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548640" y="320040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INTEGRATIONS — every one behind a Protocol with a local fake</a:t>
            </a:r>
            <a:endParaRPr lang="en-US" sz="950" dirty="0"/>
          </a:p>
        </p:txBody>
      </p:sp>
      <p:sp>
        <p:nvSpPr>
          <p:cNvPr id="22" name="Shape 17"/>
          <p:cNvSpPr/>
          <p:nvPr/>
        </p:nvSpPr>
        <p:spPr>
          <a:xfrm>
            <a:off x="548640" y="3520440"/>
            <a:ext cx="1481328" cy="868680"/>
          </a:xfrm>
          <a:prstGeom prst="roundRect">
            <a:avLst>
              <a:gd name="adj" fmla="val 12632"/>
            </a:avLst>
          </a:prstGeom>
          <a:solidFill>
            <a:srgbClr val="FDFBF7"/>
          </a:solidFill>
          <a:ln w="9525">
            <a:solidFill>
              <a:srgbClr val="EFE9DD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685800" y="3730752"/>
            <a:ext cx="384048" cy="384048"/>
          </a:xfrm>
          <a:prstGeom prst="ellipse">
            <a:avLst/>
          </a:prstGeom>
          <a:solidFill>
            <a:srgbClr val="E8F3EE"/>
          </a:solidFill>
          <a:ln w="12700">
            <a:solidFill>
              <a:srgbClr val="E8F3EE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972" y="3822924"/>
            <a:ext cx="199705" cy="199705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1143000" y="370332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WhatsApp Cloud API</a:t>
            </a:r>
            <a:endParaRPr lang="en-US" sz="950" dirty="0"/>
          </a:p>
        </p:txBody>
      </p:sp>
      <p:sp>
        <p:nvSpPr>
          <p:cNvPr id="26" name="Shape 20"/>
          <p:cNvSpPr/>
          <p:nvPr/>
        </p:nvSpPr>
        <p:spPr>
          <a:xfrm>
            <a:off x="2176272" y="3520440"/>
            <a:ext cx="1481328" cy="868680"/>
          </a:xfrm>
          <a:prstGeom prst="roundRect">
            <a:avLst>
              <a:gd name="adj" fmla="val 12632"/>
            </a:avLst>
          </a:prstGeom>
          <a:solidFill>
            <a:srgbClr val="FDFBF7"/>
          </a:solidFill>
          <a:ln w="9525">
            <a:solidFill>
              <a:srgbClr val="EFE9DD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7" name="Shape 21"/>
          <p:cNvSpPr/>
          <p:nvPr/>
        </p:nvSpPr>
        <p:spPr>
          <a:xfrm>
            <a:off x="2313432" y="3730752"/>
            <a:ext cx="384048" cy="384048"/>
          </a:xfrm>
          <a:prstGeom prst="ellipse">
            <a:avLst/>
          </a:prstGeom>
          <a:solidFill>
            <a:srgbClr val="E8F3EE"/>
          </a:solidFill>
          <a:ln w="12700">
            <a:solidFill>
              <a:srgbClr val="E8F3EE"/>
            </a:solidFill>
            <a:prstDash val="solid"/>
          </a:ln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05604" y="3822924"/>
            <a:ext cx="199705" cy="199705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2770632" y="370332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Whisper</a:t>
            </a:r>
            <a:endParaRPr lang="en-US" sz="950" dirty="0"/>
          </a:p>
        </p:txBody>
      </p:sp>
      <p:sp>
        <p:nvSpPr>
          <p:cNvPr id="30" name="Shape 23"/>
          <p:cNvSpPr/>
          <p:nvPr/>
        </p:nvSpPr>
        <p:spPr>
          <a:xfrm>
            <a:off x="3803904" y="3520440"/>
            <a:ext cx="1481328" cy="868680"/>
          </a:xfrm>
          <a:prstGeom prst="roundRect">
            <a:avLst>
              <a:gd name="adj" fmla="val 12632"/>
            </a:avLst>
          </a:prstGeom>
          <a:solidFill>
            <a:srgbClr val="FDFBF7"/>
          </a:solidFill>
          <a:ln w="9525">
            <a:solidFill>
              <a:srgbClr val="EFE9DD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3941064" y="3730752"/>
            <a:ext cx="384048" cy="384048"/>
          </a:xfrm>
          <a:prstGeom prst="ellipse">
            <a:avLst/>
          </a:prstGeom>
          <a:solidFill>
            <a:srgbClr val="E8F3EE"/>
          </a:solidFill>
          <a:ln w="12700">
            <a:solidFill>
              <a:srgbClr val="E8F3EE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33236" y="3822924"/>
            <a:ext cx="199705" cy="199705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4398264" y="370332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Opus 5</a:t>
            </a:r>
            <a:endParaRPr lang="en-US" sz="950" dirty="0"/>
          </a:p>
        </p:txBody>
      </p:sp>
      <p:sp>
        <p:nvSpPr>
          <p:cNvPr id="34" name="Shape 26"/>
          <p:cNvSpPr/>
          <p:nvPr/>
        </p:nvSpPr>
        <p:spPr>
          <a:xfrm>
            <a:off x="5431536" y="3520440"/>
            <a:ext cx="1481328" cy="868680"/>
          </a:xfrm>
          <a:prstGeom prst="roundRect">
            <a:avLst>
              <a:gd name="adj" fmla="val 12632"/>
            </a:avLst>
          </a:prstGeom>
          <a:solidFill>
            <a:srgbClr val="FDFBF7"/>
          </a:solidFill>
          <a:ln w="9525">
            <a:solidFill>
              <a:srgbClr val="EFE9DD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35" name="Shape 27"/>
          <p:cNvSpPr/>
          <p:nvPr/>
        </p:nvSpPr>
        <p:spPr>
          <a:xfrm>
            <a:off x="5568696" y="3730752"/>
            <a:ext cx="384048" cy="384048"/>
          </a:xfrm>
          <a:prstGeom prst="ellipse">
            <a:avLst/>
          </a:prstGeom>
          <a:solidFill>
            <a:srgbClr val="E8F3EE"/>
          </a:solidFill>
          <a:ln w="12700">
            <a:solidFill>
              <a:srgbClr val="E8F3EE"/>
            </a:solidFill>
            <a:prstDash val="solid"/>
          </a:ln>
        </p:spPr>
      </p:sp>
      <p:pic>
        <p:nvPicPr>
          <p:cNvPr id="3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60868" y="3822924"/>
            <a:ext cx="199705" cy="199705"/>
          </a:xfrm>
          <a:prstGeom prst="rect">
            <a:avLst/>
          </a:prstGeom>
        </p:spPr>
      </p:pic>
      <p:sp>
        <p:nvSpPr>
          <p:cNvPr id="37" name="Text 28"/>
          <p:cNvSpPr txBox="1"/>
          <p:nvPr/>
        </p:nvSpPr>
        <p:spPr>
          <a:xfrm>
            <a:off x="6025896" y="370332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Paystack DVAs</a:t>
            </a:r>
            <a:endParaRPr lang="en-US" sz="950" dirty="0"/>
          </a:p>
        </p:txBody>
      </p:sp>
      <p:sp>
        <p:nvSpPr>
          <p:cNvPr id="38" name="Shape 29"/>
          <p:cNvSpPr/>
          <p:nvPr/>
        </p:nvSpPr>
        <p:spPr>
          <a:xfrm>
            <a:off x="7059168" y="3520440"/>
            <a:ext cx="1481328" cy="868680"/>
          </a:xfrm>
          <a:prstGeom prst="roundRect">
            <a:avLst>
              <a:gd name="adj" fmla="val 12632"/>
            </a:avLst>
          </a:prstGeom>
          <a:solidFill>
            <a:srgbClr val="FDFBF7"/>
          </a:solidFill>
          <a:ln w="9525">
            <a:solidFill>
              <a:srgbClr val="EFE9DD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39" name="Shape 30"/>
          <p:cNvSpPr/>
          <p:nvPr/>
        </p:nvSpPr>
        <p:spPr>
          <a:xfrm>
            <a:off x="7196328" y="3730752"/>
            <a:ext cx="384048" cy="384048"/>
          </a:xfrm>
          <a:prstGeom prst="ellipse">
            <a:avLst/>
          </a:prstGeom>
          <a:solidFill>
            <a:srgbClr val="E8F3EE"/>
          </a:solidFill>
          <a:ln w="12700">
            <a:solidFill>
              <a:srgbClr val="E8F3EE"/>
            </a:solidFill>
            <a:prstDash val="solid"/>
          </a:ln>
        </p:spPr>
      </p:sp>
      <p:pic>
        <p:nvPicPr>
          <p:cNvPr id="40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88500" y="3822924"/>
            <a:ext cx="199705" cy="199705"/>
          </a:xfrm>
          <a:prstGeom prst="rect">
            <a:avLst/>
          </a:prstGeom>
        </p:spPr>
      </p:pic>
      <p:sp>
        <p:nvSpPr>
          <p:cNvPr id="41" name="Text 31"/>
          <p:cNvSpPr txBox="1"/>
          <p:nvPr/>
        </p:nvSpPr>
        <p:spPr>
          <a:xfrm>
            <a:off x="7653528" y="370332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Resend</a:t>
            </a:r>
            <a:endParaRPr lang="en-US" sz="950" dirty="0"/>
          </a:p>
        </p:txBody>
      </p:sp>
      <p:sp>
        <p:nvSpPr>
          <p:cNvPr id="42" name="Text 32"/>
          <p:cNvSpPr txBox="1"/>
          <p:nvPr/>
        </p:nvSpPr>
        <p:spPr>
          <a:xfrm>
            <a:off x="548640" y="4773168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leda-seven.vercel.app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0116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minutes, one order, start to finish.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457200" cy="457200"/>
          </a:xfrm>
          <a:prstGeom prst="ellipse">
            <a:avLst/>
          </a:prstGeom>
          <a:solidFill>
            <a:srgbClr val="065F46"/>
          </a:solidFill>
          <a:ln w="12700">
            <a:solidFill>
              <a:srgbClr val="065F4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188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DFB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17043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566160" y="1170432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distributor, import a catalog and retailers, invite a colleague.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777240" y="1645920"/>
            <a:ext cx="0" cy="237744"/>
          </a:xfrm>
          <a:prstGeom prst="line">
            <a:avLst/>
          </a:prstGeom>
          <a:noFill/>
          <a:ln w="19050">
            <a:solidFill>
              <a:srgbClr val="CFDBD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1883664"/>
            <a:ext cx="457200" cy="457200"/>
          </a:xfrm>
          <a:prstGeom prst="ellipse">
            <a:avLst/>
          </a:prstGeom>
          <a:solidFill>
            <a:srgbClr val="065F46"/>
          </a:solidFill>
          <a:ln w="12700">
            <a:solidFill>
              <a:srgbClr val="065F4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18836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DFB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186537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Retailer asks, then orders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566160" y="1865376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“Do you have onion?” gets prices back instantly. Then a voice note: “like fifty, make e remain small…”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77240" y="2340864"/>
            <a:ext cx="0" cy="237744"/>
          </a:xfrm>
          <a:prstGeom prst="line">
            <a:avLst/>
          </a:prstGeom>
          <a:noFill/>
          <a:ln w="19050">
            <a:solidFill>
              <a:srgbClr val="CFDBD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2578608"/>
            <a:ext cx="457200" cy="457200"/>
          </a:xfrm>
          <a:prstGeom prst="ellipse">
            <a:avLst/>
          </a:prstGeom>
          <a:solidFill>
            <a:srgbClr val="065F46"/>
          </a:solidFill>
          <a:ln w="12700">
            <a:solidFill>
              <a:srgbClr val="065F4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25786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DFB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25603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Sabi asks back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3566160" y="256032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retailer receives “1) 50 bags  2) 55 bags”, replies ‘2’, and gets the invoice and account number.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777240" y="3035808"/>
            <a:ext cx="0" cy="237744"/>
          </a:xfrm>
          <a:prstGeom prst="line">
            <a:avLst/>
          </a:prstGeom>
          <a:noFill/>
          <a:ln w="19050">
            <a:solidFill>
              <a:srgbClr val="CFDBD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8640" y="3273552"/>
            <a:ext cx="457200" cy="457200"/>
          </a:xfrm>
          <a:prstGeom prst="ellipse">
            <a:avLst/>
          </a:prstGeom>
          <a:solidFill>
            <a:srgbClr val="065F46"/>
          </a:solidFill>
          <a:ln w="12700">
            <a:solidFill>
              <a:srgbClr val="065F4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32735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DFB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188720" y="3255264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 Center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3566160" y="3255264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LE-1043 is already invoiced; the distributor sees the evidence and the reply in the War Room.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777240" y="3730752"/>
            <a:ext cx="0" cy="237744"/>
          </a:xfrm>
          <a:prstGeom prst="line">
            <a:avLst/>
          </a:prstGeom>
          <a:noFill/>
          <a:ln w="19050">
            <a:solidFill>
              <a:srgbClr val="CFDBD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3968496"/>
            <a:ext cx="457200" cy="457200"/>
          </a:xfrm>
          <a:prstGeom prst="ellipse">
            <a:avLst/>
          </a:prstGeom>
          <a:solidFill>
            <a:srgbClr val="065F46"/>
          </a:solidFill>
          <a:ln w="12700">
            <a:solidFill>
              <a:srgbClr val="065F4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8640" y="39684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DFB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1188720" y="395020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lands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3566160" y="3950208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Paystack credits the virtual account; the order is paid and the ledger closes.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4773168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leda-seven.vercel.app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0116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NEXT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working system to working business.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2514600" cy="32004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9525">
            <a:solidFill>
              <a:srgbClr val="E3E8E4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417320"/>
            <a:ext cx="502920" cy="502920"/>
          </a:xfrm>
          <a:prstGeom prst="ellipse">
            <a:avLst/>
          </a:prstGeom>
          <a:solidFill>
            <a:srgbClr val="E8F3EE"/>
          </a:solidFill>
          <a:ln w="12700">
            <a:solidFill>
              <a:srgbClr val="E8F3EE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3661" y="1538021"/>
            <a:ext cx="261518" cy="26151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2960" y="20574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the live rails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514600"/>
            <a:ext cx="20116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5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WhatsApp business number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5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Paystack DVA approval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5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and War Room on live data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273552" y="1188720"/>
            <a:ext cx="2514600" cy="32004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9525">
            <a:solidFill>
              <a:srgbClr val="E3E8E4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547872" y="1417320"/>
            <a:ext cx="502920" cy="502920"/>
          </a:xfrm>
          <a:prstGeom prst="ellipse">
            <a:avLst/>
          </a:prstGeom>
          <a:solidFill>
            <a:srgbClr val="E8F3EE"/>
          </a:solidFill>
          <a:ln w="12700">
            <a:solidFill>
              <a:srgbClr val="E8F3EE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73" y="1538021"/>
            <a:ext cx="261518" cy="26151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547872" y="20574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with distributors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3547872" y="2514600"/>
            <a:ext cx="20116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5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distributors in Lagos and Onitsha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5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decode accuracy on real Pidgin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5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Tune the 85 confidence threshold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5998464" y="1188720"/>
            <a:ext cx="2514600" cy="32004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9525">
            <a:solidFill>
              <a:srgbClr val="E3E8E4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272784" y="1417320"/>
            <a:ext cx="502920" cy="502920"/>
          </a:xfrm>
          <a:prstGeom prst="ellipse">
            <a:avLst/>
          </a:prstGeom>
          <a:solidFill>
            <a:srgbClr val="E8F3EE"/>
          </a:solidFill>
          <a:ln w="12700">
            <a:solidFill>
              <a:srgbClr val="E8F3EE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3485" y="1538021"/>
            <a:ext cx="261518" cy="261518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272784" y="20574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grow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6272784" y="2514600"/>
            <a:ext cx="20116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5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scoring from ledger history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5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Multi-branch businesses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5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forecasting from order flow</a:t>
            </a:r>
            <a:endParaRPr lang="en-US" sz="1100" dirty="0"/>
          </a:p>
        </p:txBody>
      </p:sp>
      <p:sp>
        <p:nvSpPr>
          <p:cNvPr id="19" name="Text 14"/>
          <p:cNvSpPr txBox="1"/>
          <p:nvPr/>
        </p:nvSpPr>
        <p:spPr>
          <a:xfrm>
            <a:off x="548640" y="4773168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leda-seven.vercel.app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64E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2377440"/>
            <a:ext cx="4114800" cy="4114800"/>
          </a:xfrm>
          <a:prstGeom prst="ellipse">
            <a:avLst/>
          </a:prstGeom>
          <a:solidFill>
            <a:srgbClr val="065F46"/>
          </a:solidFill>
          <a:ln w="12700">
            <a:solidFill>
              <a:srgbClr val="065F4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1280160"/>
            <a:ext cx="8046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200" b="1" dirty="0">
                <a:solidFill>
                  <a:srgbClr val="FDFB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voice note becomes an order.</a:t>
            </a:r>
            <a:endParaRPr lang="en-US" sz="3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200" b="1" dirty="0">
                <a:solidFill>
                  <a:srgbClr val="FDFB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transfer finds its invoice.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063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2C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3375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DFB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leda-seven.vercel.app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0233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3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Leda — Hackathon demo</dc:title>
  <dc:subject>PptxGenJS Presentation</dc:subject>
  <dc:creator>Leda</dc:creator>
  <cp:lastModifiedBy>Leda</cp:lastModifiedBy>
  <cp:revision>1</cp:revision>
  <dcterms:created xsi:type="dcterms:W3CDTF">2026-09-19T13:01:33Z</dcterms:created>
  <dcterms:modified xsi:type="dcterms:W3CDTF">2026-09-19T13:01:33Z</dcterms:modified>
</cp:coreProperties>
</file>